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for a pharmacovigilance, quality, privacy, and compliance audience. The promise is governance first: this agent helps safety reviewers without ever stepping outside the controls GxP and 21 CFR Part 11 expect.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Meet the safety org where they are: case-volume pressure, manual toil, and a compliance bar that rules out ungoverned AI. The rest of the deck resolves that tension.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'does vs never' framing earns trust with privacy and quality teams. The 'never' column is enforced by policy, not by prompt — that's the difference.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Blue = agent-assisted, amber = the qualified person, navy = the gated submit. Emphasize: judgment stays human; toil goes to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your quality, compliance, and privacy stakeholders came for: each control mapped to the requirement it satisfies. Walk it slowly.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trust posture in one slide: your account, your data, your IdP, reversible. This addresses the security and GxP review that inevitably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Concrete, honest proof points. 'Not a slideware demo' — it's reproducible and enforced, plus a reusable red-team harness passes 7/7 and the openFDA FAERS background is a live lookup. The seriousness engine is deterministic and transparent, so a qualified person can defend each determination.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Honesty builds trust. Be explicit that the authoritative reporting rules (and their regulatory review), licensed MedDRA/WHODrug coding, connectors to their safety system of record, validation, and CSV/CSA authorization stay with them. The shipped thresholds are illustrative.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 framed honestly as assist, not replacement. Emphasize consistency (which reduces variability), audit-readiness for GxP inspections, and keeping safety reviewers in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a concrete, low-commitment path. The pilot is synthetic-data, in-their-account, reversible — an easy yes for a security-, privacy-, and quality-conscious safety organization.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737360"/>
            <a:ext cx="5669280" cy="566928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-822960"/>
            <a:ext cx="3840480" cy="3840480"/>
          </a:xfrm>
          <a:prstGeom prst="ellipse">
            <a:avLst/>
          </a:prstGeom>
          <a:solidFill>
            <a:srgbClr val="18466F"/>
          </a:solidFill>
          <a:ln/>
        </p:spPr>
      </p:sp>
      <p:sp>
        <p:nvSpPr>
          <p:cNvPr id="4" name="Shape 2"/>
          <p:cNvSpPr/>
          <p:nvPr/>
        </p:nvSpPr>
        <p:spPr>
          <a:xfrm>
            <a:off x="10287000" y="-45720"/>
            <a:ext cx="2286000" cy="22860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8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PHARMACOVIGILANCE  ·  GOVERNED AI ON AWS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03504" y="1828800"/>
            <a:ext cx="10241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AI for</a:t>
            </a:r>
            <a:endParaRPr lang="en-US" sz="4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Pharmacovigilance Intake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40080" y="37947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accelerator that intakes, de-identifies, assesses, and drafts adverse-event ICSRs under strict governance — fail-closed on PHI, tamper-proof by design, and never able to submit on its own. Built on Amazon Bedrock AgentCore, running in your AWS account.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40080" y="5303520"/>
            <a:ext cx="267004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530352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 by construction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538728" y="5303520"/>
            <a:ext cx="221284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38728" y="530352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your account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80176" y="5303520"/>
            <a:ext cx="285292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80176" y="530352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Qualified-person-in-command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CHALLENGE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volume rises. Every intake step must stay compliant.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Adverse-event reports keep coming, intake is largely manual, and the reporting clocks don't wait — a serious, unexpected case is a 15-day expedited report. AI could take the assembly load off safety reviewers — but only if it operates entirely inside your compliance envelope.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560320"/>
            <a:ext cx="3529584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871216"/>
            <a:ext cx="566928" cy="56692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91056" y="288950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 &amp; clocks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77824" y="3749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case counts against fixed expedited (15-day) and periodic reporting deadlines.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15968" y="2560320"/>
            <a:ext cx="3529584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08576" y="2871216"/>
            <a:ext cx="566928" cy="56692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0857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340096" y="288950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Manual assembly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26864" y="3749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Skilled safety reviewers spend time on extraction, coding, and narrative drafting — not judgment.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065008" y="2560320"/>
            <a:ext cx="3529584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57616" y="2871216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35761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089136" y="288950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compliance slack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375904" y="3749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handling, GxP audit trails, and the qualified-person determination leave no room for an ungoverned tool.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Pharmacovigilance · on Amazon Bedrock AgentCore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agent that does the assembly — and is structurally incapable of overstepping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intakes the report, pulls FAERS background, de-identifies it, runs a transparent seriousness assessment, drafts the CIOMS narrative, and prepares it for review. Then it stops. A qualified person makes the determination and submits — the agent cannot.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788920"/>
            <a:ext cx="5440680" cy="2880360"/>
          </a:xfrm>
          <a:prstGeom prst="roundRect">
            <a:avLst>
              <a:gd name="adj" fmla="val 3175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86968" y="3017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DOES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86968" y="3520440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86968" y="3520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80160" y="34747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&amp; extract the decision fields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86968" y="3941064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3941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280160" y="3895344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aggregate FAERS background (non-PHI)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86968" y="4361688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86968" y="4361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80160" y="431596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De-identify the case (fail-closed)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86968" y="4782312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86968" y="4782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473659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seriousness + reporting-clock engine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86968" y="5202936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86968" y="5202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280160" y="515721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the narrative + request sign-off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99632" y="2788920"/>
            <a:ext cx="5440680" cy="2880360"/>
          </a:xfrm>
          <a:prstGeom prst="roundRect">
            <a:avLst>
              <a:gd name="adj" fmla="val 3175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3017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NEVER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519672" y="3520440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9672" y="3520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912864" y="34747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un-masked PHI without controls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519672" y="3941064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19672" y="3941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912864" y="3895344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or draft on un-de-identified data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519672" y="4361688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19672" y="4361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12864" y="431596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its own work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519672" y="4782312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19672" y="4782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912864" y="473659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the ICSR to the regulator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519672" y="5202936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519672" y="5202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912864" y="515721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causality or alter the audit trail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Pharmacovigilance · on Amazon Bedrock AgentCore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FITS YOUR WORKFLOW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Agent-assisted intake, qualified-person-in-command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58368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Intake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76656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ICSR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487168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798064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889504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889504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De-identify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907792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PHI (fail-closed)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718304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029200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120640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120640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&amp; draft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138928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seriousness + narrative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949440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7260336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51776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PERSON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351776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&amp;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370064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off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180576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9491472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582912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APPROVAL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582912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Submit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601200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ICSR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3977640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68680" y="422452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action passes an access-control check before it runs, and the two consequential steps — assessing or drafting on un-masked data, and submitting the ICSR — are impossible for the agent to reach on its own.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868680" y="50292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safety reviewers stay in command — </a:t>
            </a:r>
            <a:pPr indent="0" marL="0">
              <a:buNone/>
            </a:pPr>
            <a:r>
              <a:rPr lang="en-US" sz="1400" i="1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removes the assembly toil, not the judgment.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Pharmacovigilance · on Amazon Bedrock AgentCore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YOUR QUALITY, COMPLIANCE &amp; PRIVACY TEAMS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controls that let you say yes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527048"/>
            <a:ext cx="475488" cy="47548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1527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27048" y="14904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PHI de-identification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961888" y="149047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is de-identified before the model or the audit sees it. No masking → no assessment, no draft.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0213848" y="158191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10" name="Text 8"/>
          <p:cNvSpPr/>
          <p:nvPr/>
        </p:nvSpPr>
        <p:spPr>
          <a:xfrm>
            <a:off x="10213848" y="158191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24028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41248" y="2350008"/>
            <a:ext cx="475488" cy="47548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1248" y="23500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527048" y="231343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audit trail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961888" y="231343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Append-only, write-once evidence of every decision and state change — the writer can't alter it.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10213848" y="240487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17" name="Text 15"/>
          <p:cNvSpPr/>
          <p:nvPr/>
        </p:nvSpPr>
        <p:spPr>
          <a:xfrm>
            <a:off x="10213848" y="240487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CFR Part 11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306324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1248" y="3172968"/>
            <a:ext cx="475488" cy="47548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41248" y="31729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27048" y="313639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(separation of duties)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5961888" y="313639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qualified person approves with a bound, single-use token before any ICSR is submitted.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10213848" y="322783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24" name="Text 22"/>
          <p:cNvSpPr/>
          <p:nvPr/>
        </p:nvSpPr>
        <p:spPr>
          <a:xfrm>
            <a:off x="10213848" y="322783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GVP · QPPV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388620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41248" y="3995928"/>
            <a:ext cx="475488" cy="47548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41248" y="39959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527048" y="395935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5961888" y="395935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tool call is checked against policy; nothing runs unless explicitly permitted.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10213848" y="405079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31" name="Text 29"/>
          <p:cNvSpPr/>
          <p:nvPr/>
        </p:nvSpPr>
        <p:spPr>
          <a:xfrm>
            <a:off x="10213848" y="405079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GxP access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66928" y="470916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41248" y="4818888"/>
            <a:ext cx="475488" cy="47548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841248" y="4818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527048" y="478231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identity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5961888" y="47823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are bound to an authenticated safety reviewer via your identity provider.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10213848" y="487375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38" name="Text 36"/>
          <p:cNvSpPr/>
          <p:nvPr/>
        </p:nvSpPr>
        <p:spPr>
          <a:xfrm>
            <a:off x="10213848" y="487375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11 · IA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Pharmacovigilance · on Amazon Bedrock AgentCore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RUNS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Native on Amazon Bedrock AgentCore — inside your AWS boundary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governance isn't a bolt-on. Identity, deny-by-default authorization (Cedar), governed tools, and the agent runtime are native AWS services — deployed in your account, on your data, under your controls.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66928" y="233172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64261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6426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27048" y="260604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your account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86968" y="322783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Deploys via infrastructure-as-code into your AWS environment — your VPC, your keys, your logs.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27064" y="233172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19672" y="264261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19672" y="26426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87184" y="260604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data stays yours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47104" y="322783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is masked before any model call; nothing leaves your boundary for third-party processing.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11480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59536" y="442569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9536" y="4425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27048" y="43891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identity provider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86968" y="501091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 your existing IdP; actions are bound to your safety reviewers and your roles.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27064" y="411480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19672" y="442569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519672" y="4425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87184" y="43891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&amp; reversible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547104" y="501091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One-command deploy, one-command teardown with zero residual — easy to evaluate, easy to remove.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Pharmacovigilance · on Amazon Bedrock AgentCore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STANDS 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 end-to-end on AWS — not a slideware demo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32/32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58368" y="2194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checks pass, live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15968" y="14173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15968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15-day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407408" y="2194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expedited clock computed deterministically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65008" y="14173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65008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8A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156448" y="2194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submissions gated by a qualified person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926080"/>
            <a:ext cx="11064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8680" y="312724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Demonstrated live, in enforcement mode: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96112" y="36118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5387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real, de-identified CIOMS narrative drafted by the model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96112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10565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(name, DOB, address) removed before the model — fail-closed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96112" y="474573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745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67258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Un-masked assessment and drafting refused by policy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309360" y="36118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309360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711696" y="35387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blocked from submitting an ICSR — every time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309360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711696" y="410565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qualified person required to approve; approvals single-use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309360" y="474573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309360" y="4745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711696" y="467258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Tamper-proof audit written for each step; duplicates rejected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Pharmacovigilance · on Amazon Bedrock AgentCore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DIVISION OF RESPONSIBILITY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bring, what stays yours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37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ACCELERATOR PROVIDES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96112" y="228600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24028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governed agent + policies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96112" y="278892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96112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98448" y="274320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intake &amp; assessment tools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96112" y="32918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9611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98448" y="324612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PHI masking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96112" y="379476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794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74904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deterministic seriousness rules engine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96112" y="42976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25196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 sign-off workflow + audit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96112" y="480060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800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75488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Infrastructure-as-code + documentation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199632" y="1508760"/>
            <a:ext cx="544068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01384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CONTROL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528816" y="2286000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528816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31152" y="223113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identity provider + reviewer roles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528816" y="2871216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28816" y="28712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31152" y="281635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to your safety system of record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6528816" y="3456432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528816" y="34564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931152" y="3401568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Licensed MedDRA / WHODrug coding dictionaries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6528816" y="4041648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28816" y="4041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931152" y="3986784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authoritative reporting rules (regulatory review)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6528816" y="4626864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528816" y="46268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31152" y="4572000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(CSV/CSA) + authorization to operate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566928" y="5669280"/>
            <a:ext cx="11064240" cy="502920"/>
          </a:xfrm>
          <a:prstGeom prst="roundRect">
            <a:avLst>
              <a:gd name="adj" fmla="val 16364"/>
            </a:avLst>
          </a:prstGeom>
          <a:solidFill>
            <a:srgbClr val="0E2A47"/>
          </a:solidFill>
          <a:ln/>
        </p:spPr>
      </p:sp>
      <p:sp>
        <p:nvSpPr>
          <p:cNvPr id="42" name="Text 40"/>
          <p:cNvSpPr/>
          <p:nvPr/>
        </p:nvSpPr>
        <p:spPr>
          <a:xfrm>
            <a:off x="566928" y="566928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accelerator, not a finished product — the reporting rules, validation, and certification for your intended use stay with you.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Pharmacovigilance · on Amazon Bedrock AgentCore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CHANGES FOR YOUR 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reviewers spend their time on judgment, not assembly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837944"/>
            <a:ext cx="548640" cy="548640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91056" y="181965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 first drafts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77824" y="2532888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produces a de-identified case and a drafted CIOMS narrative for review in minutes — reviewers refine instead of starting from a blank page.</a:t>
            </a:r>
            <a:endParaRPr lang="en-US" sz="1260" dirty="0"/>
          </a:p>
        </p:txBody>
      </p:sp>
      <p:sp>
        <p:nvSpPr>
          <p:cNvPr id="9" name="Shape 7"/>
          <p:cNvSpPr/>
          <p:nvPr/>
        </p:nvSpPr>
        <p:spPr>
          <a:xfrm>
            <a:off x="6227064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1837944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51192" y="181965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consistent intake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37960" y="2532888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case runs the same governed path — the same masking, the same seriousness rules, the same audit — reducing variability.</a:t>
            </a:r>
            <a:endParaRPr lang="en-US" sz="1260" dirty="0"/>
          </a:p>
        </p:txBody>
      </p:sp>
      <p:sp>
        <p:nvSpPr>
          <p:cNvPr id="14" name="Shape 12"/>
          <p:cNvSpPr/>
          <p:nvPr/>
        </p:nvSpPr>
        <p:spPr>
          <a:xfrm>
            <a:off x="566928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77824" y="3931920"/>
            <a:ext cx="548640" cy="54864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77824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91056" y="391363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Audit-ready by construction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77824" y="4626864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is captured automatically as the work happens, ready for a GxP audit or a regulatory inspection — not reconstructed later.</a:t>
            </a:r>
            <a:endParaRPr lang="en-US" sz="1260" dirty="0"/>
          </a:p>
        </p:txBody>
      </p:sp>
      <p:sp>
        <p:nvSpPr>
          <p:cNvPr id="19" name="Shape 17"/>
          <p:cNvSpPr/>
          <p:nvPr/>
        </p:nvSpPr>
        <p:spPr>
          <a:xfrm>
            <a:off x="6227064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3931920"/>
            <a:ext cx="548640" cy="54864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3796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51192" y="391363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Reviewers stay in command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37960" y="4626864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determination and the submission remain human — the agent never makes the call.</a:t>
            </a:r>
            <a:endParaRPr lang="en-US" sz="1260" dirty="0"/>
          </a:p>
        </p:txBody>
      </p:sp>
      <p:sp>
        <p:nvSpPr>
          <p:cNvPr id="24" name="Text 22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Pharmacovigilance · on Amazon Bedrock AgentCore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4023360"/>
            <a:ext cx="5120640" cy="512064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WE'D START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scoped pilot on synthetic data — in your account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3258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Low-risk, boundary-explicit, and reversible. We stand the pattern up on synthetic adverse-event cases in your AWS environment, prove the controls with your quality, compliance, and privacy teams, then scope what a validated (CSV/CSA) deployment would take.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423160"/>
            <a:ext cx="3529584" cy="2331720"/>
          </a:xfrm>
          <a:prstGeom prst="roundRect">
            <a:avLst>
              <a:gd name="adj" fmla="val 3922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59536" y="2697480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5953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572768" y="2715768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86968" y="338328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your safety, quality, privacy, and security teams through the architecture and the live 32-check proof.</a:t>
            </a:r>
            <a:endParaRPr lang="en-US" sz="1230" dirty="0"/>
          </a:p>
        </p:txBody>
      </p:sp>
      <p:sp>
        <p:nvSpPr>
          <p:cNvPr id="11" name="Shape 9"/>
          <p:cNvSpPr/>
          <p:nvPr/>
        </p:nvSpPr>
        <p:spPr>
          <a:xfrm>
            <a:off x="886968" y="42062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886968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week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15968" y="2423160"/>
            <a:ext cx="3529584" cy="2331720"/>
          </a:xfrm>
          <a:prstGeom prst="roundRect">
            <a:avLst>
              <a:gd name="adj" fmla="val 3922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08576" y="2697480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60857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321808" y="2715768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Scoped pilot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636008" y="338328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your account on synthetic adverse-event cases; run cases end-to-end through the governed workflow.</a:t>
            </a:r>
            <a:endParaRPr lang="en-US" sz="1230" dirty="0"/>
          </a:p>
        </p:txBody>
      </p:sp>
      <p:sp>
        <p:nvSpPr>
          <p:cNvPr id="18" name="Shape 16"/>
          <p:cNvSpPr/>
          <p:nvPr/>
        </p:nvSpPr>
        <p:spPr>
          <a:xfrm>
            <a:off x="4636008" y="42062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4636008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4–6 weeks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65008" y="2423160"/>
            <a:ext cx="3529584" cy="2331720"/>
          </a:xfrm>
          <a:prstGeom prst="roundRect">
            <a:avLst>
              <a:gd name="adj" fmla="val 3922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357616" y="2697480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35761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070848" y="2715768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scope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385048" y="338328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authoritative reporting rules, licensed coding, connectors, and CSV/CSA a production deployment for your program would require.</a:t>
            </a:r>
            <a:endParaRPr lang="en-US" sz="1230" dirty="0"/>
          </a:p>
        </p:txBody>
      </p:sp>
      <p:sp>
        <p:nvSpPr>
          <p:cNvPr id="25" name="Shape 23"/>
          <p:cNvSpPr/>
          <p:nvPr/>
        </p:nvSpPr>
        <p:spPr>
          <a:xfrm>
            <a:off x="8385048" y="42062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8385048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plan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66928" y="52578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AI you can actually put in front of an auditor — and a regulatory inspector. Let's prove it on your data.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Governed AI for Pharmacovigilance</dc:title>
  <dc:subject>PptxGenJS Presentation</dc:subject>
  <dc:creator>Pharmacovigilance AgentCore Accelerator</dc:creator>
  <cp:lastModifiedBy>Pharmacovigilance AgentCore Accelerator</cp:lastModifiedBy>
  <cp:revision>1</cp:revision>
  <dcterms:created xsi:type="dcterms:W3CDTF">2026-07-19T20:23:45Z</dcterms:created>
  <dcterms:modified xsi:type="dcterms:W3CDTF">2026-07-19T20:23:45Z</dcterms:modified>
</cp:coreProperties>
</file>